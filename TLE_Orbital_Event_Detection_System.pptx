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8388"/>
                </a:solidFill>
              </a:defRPr>
            </a:pPr>
            <a:r>
              <a:t>SPACE SITUATIONAL AWARENESS (SSA)  |  空间态势感知与自主监测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空间目标轨道态势感知与自动化机动检测系统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C8DC"/>
                </a:solidFill>
              </a:defRPr>
            </a:pPr>
            <a:r>
              <a:t>基于海量低频 TLE 轨道要素与空间天气驱动的高置信度、毫秒级增量事件感知方案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429000" cy="3749039"/>
          </a:xfrm>
          <a:prstGeom prst="roundRect">
            <a:avLst/>
          </a:prstGeom>
          <a:solidFill>
            <a:srgbClr val="142844"/>
          </a:solidFill>
          <a:ln w="19050">
            <a:solidFill>
              <a:srgbClr val="0E8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315468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8388"/>
                </a:solidFill>
              </a:defRPr>
            </a:pPr>
            <a:r>
              <a:t>01 / 空间资产与威胁激增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1400" b="1">
                <a:solidFill>
                  <a:srgbClr val="FFFFFF"/>
                </a:solidFill>
              </a:defRPr>
            </a:pPr>
            <a:r>
              <a:t>低轨星座密集组网与自主变轨</a:t>
            </a:r>
          </a:p>
          <a:p>
            <a:pPr>
              <a:lnSpc>
                <a:spcPct val="130000"/>
              </a:lnSpc>
              <a:defRPr sz="1100">
                <a:solidFill>
                  <a:srgbClr val="C8D7E6"/>
                </a:solidFill>
              </a:defRPr>
            </a:pPr>
            <a:r>
              <a:t>• 全球在轨活跃载荷超 1.8 万颗，低推力机动频繁</a:t>
            </a:r>
            <a:br/>
            <a:r>
              <a:t>• 碰撞预警与空间防御对自主态势感知提出紧迫需求</a:t>
            </a:r>
            <a:br/>
            <a:r>
              <a:t>• 传统人工轮巡或静态监视模式在海量目标下难以为继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468880"/>
            <a:ext cx="3429000" cy="3749039"/>
          </a:xfrm>
          <a:prstGeom prst="roundRect">
            <a:avLst/>
          </a:prstGeom>
          <a:solidFill>
            <a:srgbClr val="142844"/>
          </a:solidFill>
          <a:ln w="19050">
            <a:solidFill>
              <a:srgbClr val="0E8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606040"/>
            <a:ext cx="315468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8388"/>
                </a:solidFill>
              </a:defRPr>
            </a:pPr>
            <a:r>
              <a:t>02 / 监测数据特征与痛点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1400" b="1">
                <a:solidFill>
                  <a:srgbClr val="FFFFFF"/>
                </a:solidFill>
              </a:defRPr>
            </a:pPr>
            <a:r>
              <a:t>海量低频快照伴随高噪声干扰</a:t>
            </a:r>
          </a:p>
          <a:p>
            <a:pPr>
              <a:lnSpc>
                <a:spcPct val="130000"/>
              </a:lnSpc>
              <a:defRPr sz="1100">
                <a:solidFill>
                  <a:srgbClr val="C8D7E6"/>
                </a:solidFill>
              </a:defRPr>
            </a:pPr>
            <a:r>
              <a:t>• 依赖 Space-Track 每日全量 TLE/OMM 数据源（日均 3.2万条）</a:t>
            </a:r>
            <a:br/>
            <a:r>
              <a:t>• 均元拟合噪声与地面观测坏点极易引发严重误报</a:t>
            </a:r>
            <a:br/>
            <a:r>
              <a:t>• 高层大气阻力自然衰减与主动变轨信号交织耦合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2468880"/>
            <a:ext cx="3429000" cy="3749039"/>
          </a:xfrm>
          <a:prstGeom prst="roundRect">
            <a:avLst/>
          </a:prstGeom>
          <a:solidFill>
            <a:srgbClr val="142844"/>
          </a:solidFill>
          <a:ln w="19050">
            <a:solidFill>
              <a:srgbClr val="0E8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2606040"/>
            <a:ext cx="315468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8388"/>
                </a:solidFill>
              </a:defRPr>
            </a:pPr>
            <a:r>
              <a:t>03 / 项目工程破局点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1400" b="1">
                <a:solidFill>
                  <a:srgbClr val="FFFFFF"/>
                </a:solidFill>
              </a:defRPr>
            </a:pPr>
            <a:r>
              <a:t>无人值守闭环与自适应感知</a:t>
            </a:r>
          </a:p>
          <a:p>
            <a:pPr>
              <a:lnSpc>
                <a:spcPct val="130000"/>
              </a:lnSpc>
              <a:defRPr sz="1100">
                <a:solidFill>
                  <a:srgbClr val="C8D7E6"/>
                </a:solidFill>
              </a:defRPr>
            </a:pPr>
            <a:r>
              <a:t>• 物理去趋势与 SGP4 交叉验证彻底消灭虚警</a:t>
            </a:r>
            <a:br/>
            <a:r>
              <a:t>• 融合空间天气解耦单星姿态机动与高层大气暴</a:t>
            </a:r>
            <a:br/>
            <a:r>
              <a:t>• 构建 O(1) 增量状态库，实现秒级响应与边缘部署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8388"/>
                </a:solidFill>
              </a:defRPr>
            </a:pPr>
            <a:r>
              <a:t>02 / 业务流程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375C"/>
                </a:solidFill>
              </a:defRPr>
            </a:pPr>
            <a:r>
              <a:t>全链路闭环业务流程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从高层空间天气获取、TLE原子归档到增量态势感知的每日全自动闭环</a:t>
            </a:r>
          </a:p>
        </p:txBody>
      </p:sp>
      <p:pic>
        <p:nvPicPr>
          <p:cNvPr id="5" name="Picture 4" descr="ppt_fig2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89888"/>
            <a:ext cx="10725912" cy="307787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17720"/>
            <a:ext cx="3429000" cy="1508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8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709160"/>
            <a:ext cx="32095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375C"/>
                </a:solidFill>
              </a:defRPr>
            </a:pPr>
            <a:r>
              <a:t>全自动定时触发</a:t>
            </a:r>
          </a:p>
          <a:p>
            <a:pPr>
              <a:lnSpc>
                <a:spcPct val="125000"/>
              </a:lnSpc>
              <a:spcBef>
                <a:spcPts val="400"/>
              </a:spcBef>
              <a:defRPr sz="1000">
                <a:solidFill>
                  <a:srgbClr val="2C3E50"/>
                </a:solidFill>
              </a:defRPr>
            </a:pPr>
            <a:r>
              <a:t>02:00 同步空间天气参数，03:20 执行 TLE 快照安全下载，03:35 增量检测入库，全流程零人工干预。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4617720"/>
            <a:ext cx="3429000" cy="1508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8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4709160"/>
            <a:ext cx="32095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375C"/>
                </a:solidFill>
              </a:defRPr>
            </a:pPr>
            <a:r>
              <a:t>原子性安全归档</a:t>
            </a:r>
          </a:p>
          <a:p>
            <a:pPr>
              <a:lnSpc>
                <a:spcPct val="125000"/>
              </a:lnSpc>
              <a:spcBef>
                <a:spcPts val="400"/>
              </a:spcBef>
              <a:defRPr sz="1000">
                <a:solidFill>
                  <a:srgbClr val="2C3E50"/>
                </a:solidFill>
              </a:defRPr>
            </a:pPr>
            <a:r>
              <a:t>基于临时文件替换与 SQLite 文件锁机制，保障在边缘复杂网络环境下数据下载无脏读、无中断。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4617720"/>
            <a:ext cx="3429000" cy="1508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8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8" y="4709160"/>
            <a:ext cx="32095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375C"/>
                </a:solidFill>
              </a:defRPr>
            </a:pPr>
            <a:r>
              <a:t>多维成果自动发布</a:t>
            </a:r>
          </a:p>
          <a:p>
            <a:pPr>
              <a:lnSpc>
                <a:spcPct val="125000"/>
              </a:lnSpc>
              <a:spcBef>
                <a:spcPts val="400"/>
              </a:spcBef>
              <a:defRPr sz="1000">
                <a:solidFill>
                  <a:srgbClr val="2C3E50"/>
                </a:solidFill>
              </a:defRPr>
            </a:pPr>
            <a:r>
              <a:t>自动生成 Markdown 态势简报、结构化 CSV/JSON 事件日志、以及 Plotly 交互式 6 根数可视化看板。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8388"/>
                </a:solidFill>
              </a:defRPr>
            </a:pPr>
            <a:r>
              <a:t>03 / 方法与思路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375C"/>
                </a:solidFill>
              </a:defRPr>
            </a:pPr>
            <a:r>
              <a:t>核心方法与动力学算法思路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物理去趋势初筛 + 双历元 SGP4 交叉外推验证 + 空间环境动力学解耦</a:t>
            </a:r>
          </a:p>
        </p:txBody>
      </p:sp>
      <p:pic>
        <p:nvPicPr>
          <p:cNvPr id="5" name="Picture 4" descr="ppt_fig3_method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89888"/>
            <a:ext cx="10725912" cy="31711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17720"/>
            <a:ext cx="3429000" cy="1508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8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709160"/>
            <a:ext cx="32095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375C"/>
                </a:solidFill>
              </a:defRPr>
            </a:pPr>
            <a:r>
              <a:t>阶段一：自适应残差初筛</a:t>
            </a:r>
          </a:p>
          <a:p>
            <a:pPr>
              <a:lnSpc>
                <a:spcPct val="125000"/>
              </a:lnSpc>
              <a:spcBef>
                <a:spcPts val="400"/>
              </a:spcBef>
              <a:defRPr sz="1000">
                <a:solidFill>
                  <a:srgbClr val="2C3E50"/>
                </a:solidFill>
              </a:defRPr>
            </a:pPr>
            <a:r>
              <a:t>剥离高层气阻自然衰减与 J2 进动，在线递推学习单星测轨噪声底 σ_a，实现千星千面自适应 3.5σ 门限，杜绝人工配置阈值。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4617720"/>
            <a:ext cx="3429000" cy="1508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8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4709160"/>
            <a:ext cx="32095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375C"/>
                </a:solidFill>
              </a:defRPr>
            </a:pPr>
            <a:r>
              <a:t>阶段二：SGP4 冲量反演</a:t>
            </a:r>
          </a:p>
          <a:p>
            <a:pPr>
              <a:lnSpc>
                <a:spcPct val="125000"/>
              </a:lnSpc>
              <a:spcBef>
                <a:spcPts val="400"/>
              </a:spcBef>
              <a:defRPr sz="1000">
                <a:solidFill>
                  <a:srgbClr val="2C3E50"/>
                </a:solidFill>
              </a:defRPr>
            </a:pPr>
            <a:r>
              <a:t>基于 C++ 极速 SGP4 模型外推三维空间残差 Δr，在 RTN 轨道坐标系反演切向与法向冲量 ΔV，三历元一致性确认消灭地面拟合坏点。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4617720"/>
            <a:ext cx="3429000" cy="1508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8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8" y="4709160"/>
            <a:ext cx="32095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375C"/>
                </a:solidFill>
              </a:defRPr>
            </a:pPr>
            <a:r>
              <a:t>空间天气环境智能解耦</a:t>
            </a:r>
          </a:p>
          <a:p>
            <a:pPr>
              <a:lnSpc>
                <a:spcPct val="125000"/>
              </a:lnSpc>
              <a:spcBef>
                <a:spcPts val="400"/>
              </a:spcBef>
              <a:defRPr sz="1000">
                <a:solidFill>
                  <a:srgbClr val="2C3E50"/>
                </a:solidFill>
              </a:defRPr>
            </a:pPr>
            <a:r>
              <a:t>自动关联太阳通量 F10.7 与地磁指数 Ap。Ap≥25 时归因为高层热层膨胀事件；空间天气平静时归因为航天器自身姿态机动。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8388"/>
                </a:solidFill>
              </a:defRPr>
            </a:pPr>
            <a:r>
              <a:t>04 / 结果与发现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375C"/>
                </a:solidFill>
              </a:defRPr>
            </a:pPr>
            <a:r>
              <a:t>关键检测结果与典型案例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全量 1.8 万颗在轨载荷 20 天时序扫描与空间站真实变轨实测反演</a:t>
            </a:r>
          </a:p>
        </p:txBody>
      </p:sp>
      <p:pic>
        <p:nvPicPr>
          <p:cNvPr id="5" name="Picture 4" descr="ppt_fig4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89888"/>
            <a:ext cx="10725912" cy="31711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17720"/>
            <a:ext cx="3429000" cy="1508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8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709160"/>
            <a:ext cx="32095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375C"/>
                </a:solidFill>
              </a:defRPr>
            </a:pPr>
            <a:r>
              <a:t>全域事件宏观分布</a:t>
            </a:r>
          </a:p>
          <a:p>
            <a:pPr>
              <a:lnSpc>
                <a:spcPct val="125000"/>
              </a:lnSpc>
              <a:spcBef>
                <a:spcPts val="400"/>
              </a:spcBef>
              <a:defRPr sz="1000">
                <a:solidFill>
                  <a:srgbClr val="2C3E50"/>
                </a:solidFill>
              </a:defRPr>
            </a:pPr>
            <a:r>
              <a:t>20 天内对 18,741 颗在轨载荷完成全量扫描，捕获 23,161 次事件（主动抬轨 13,073 起、降轨 4,074 起、GEO 定点保持 2,151 起）。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4617720"/>
            <a:ext cx="3429000" cy="1508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8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4709160"/>
            <a:ext cx="32095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375C"/>
                </a:solidFill>
              </a:defRPr>
            </a:pPr>
            <a:r>
              <a:t>空间站真实抬轨精准反演</a:t>
            </a:r>
          </a:p>
          <a:p>
            <a:pPr>
              <a:lnSpc>
                <a:spcPct val="125000"/>
              </a:lnSpc>
              <a:spcBef>
                <a:spcPts val="400"/>
              </a:spcBef>
              <a:defRPr sz="1000">
                <a:solidFill>
                  <a:srgbClr val="2C3E50"/>
                </a:solidFill>
              </a:defRPr>
            </a:pPr>
            <a:r>
              <a:t>实测捕获国际空间站 (ISS) 抬轨机动（Δa = +1.827 km, Δv_T = +0.63 m/s）与中国空间站 (CSS) 天和舱维持抬轨（Δa = +0.621 km）。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4617720"/>
            <a:ext cx="3429000" cy="1508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8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8" y="4709160"/>
            <a:ext cx="32095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375C"/>
                </a:solidFill>
              </a:defRPr>
            </a:pPr>
            <a:r>
              <a:t>强地磁暴阻力脉冲捕获</a:t>
            </a:r>
          </a:p>
          <a:p>
            <a:pPr>
              <a:lnSpc>
                <a:spcPct val="125000"/>
              </a:lnSpc>
              <a:spcBef>
                <a:spcPts val="400"/>
              </a:spcBef>
              <a:defRPr sz="1000">
                <a:solidFill>
                  <a:srgbClr val="2C3E50"/>
                </a:solidFill>
              </a:defRPr>
            </a:pPr>
            <a:r>
              <a:t>精准捕获 09-25（Ap=27）与 10-04（Ap=48 强地磁暴）期间数百颗低轨卫星 BSTAR 阻力系数的集体跃升，准确完成环境归因。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8388"/>
                </a:solidFill>
              </a:defRPr>
            </a:pPr>
            <a:r>
              <a:t>05 / 性能与效益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375C"/>
                </a:solidFill>
              </a:defRPr>
            </a:pPr>
            <a:r>
              <a:t>极致性能与工程效益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基于 SQLite 状态库的 O(1) 增量检测引擎，彻底解决历史数据累积性能雪崩</a:t>
            </a:r>
          </a:p>
        </p:txBody>
      </p:sp>
      <p:pic>
        <p:nvPicPr>
          <p:cNvPr id="5" name="Picture 4" descr="ppt_fig5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89888"/>
            <a:ext cx="10725912" cy="307787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17720"/>
            <a:ext cx="3429000" cy="1508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8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709160"/>
            <a:ext cx="32095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375C"/>
                </a:solidFill>
              </a:defRPr>
            </a:pPr>
            <a:r>
              <a:t>单日检测极速：1.60 秒</a:t>
            </a:r>
          </a:p>
          <a:p>
            <a:pPr>
              <a:lnSpc>
                <a:spcPct val="125000"/>
              </a:lnSpc>
              <a:spcBef>
                <a:spcPts val="400"/>
              </a:spcBef>
              <a:defRPr sz="1000">
                <a:solidFill>
                  <a:srgbClr val="2C3E50"/>
                </a:solidFill>
              </a:defRPr>
            </a:pPr>
            <a:r>
              <a:t>在 ARM 架构边缘设备（Jetson nano72）上，端到端完成 18,620 颗在轨载荷的单日全量排查与入库仅需 1.6 秒。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4617720"/>
            <a:ext cx="3429000" cy="1508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8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4709160"/>
            <a:ext cx="32095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375C"/>
                </a:solidFill>
              </a:defRPr>
            </a:pPr>
            <a:r>
              <a:t>复杂度跃迁：恒定 O(1)</a:t>
            </a:r>
          </a:p>
          <a:p>
            <a:pPr>
              <a:lnSpc>
                <a:spcPct val="125000"/>
              </a:lnSpc>
              <a:spcBef>
                <a:spcPts val="400"/>
              </a:spcBef>
              <a:defRPr sz="1000">
                <a:solidFill>
                  <a:srgbClr val="2C3E50"/>
                </a:solidFill>
              </a:defRPr>
            </a:pPr>
            <a:r>
              <a:t>摒弃全量历史重算，维护紧凑 SQLite 单星状态库（7.9 MB），历史数据累积 5 年、10 年，每日增量耗时绝不膨胀。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4617720"/>
            <a:ext cx="3429000" cy="15087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8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8" y="4709160"/>
            <a:ext cx="32095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375C"/>
                </a:solidFill>
              </a:defRPr>
            </a:pPr>
            <a:r>
              <a:t>边缘部署效益：内存 &lt; 60 MB</a:t>
            </a:r>
          </a:p>
          <a:p>
            <a:pPr>
              <a:lnSpc>
                <a:spcPct val="125000"/>
              </a:lnSpc>
              <a:spcBef>
                <a:spcPts val="400"/>
              </a:spcBef>
              <a:defRPr sz="1000">
                <a:solidFill>
                  <a:srgbClr val="2C3E50"/>
                </a:solidFill>
              </a:defRPr>
            </a:pPr>
            <a:r>
              <a:t>流式处理内存峰值仅 58 MB，轻量嵌入式板卡零压力运行，与 Linux Crontab 无缝嵌合，打造开箱即用的工业级态势感知节点。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